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1371600"/>
            <a:ext cx="1033272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300" b="1">
                <a:solidFill>
                  <a:srgbClr val="10B981"/>
                </a:solidFill>
              </a:defRPr>
            </a:pPr>
            <a:r>
              <a:t>DEEP LEARNING SEMESTER PROJECT</a:t>
            </a:r>
          </a:p>
          <a:p>
            <a:pPr>
              <a:spcAft>
                <a:spcPts val="800"/>
              </a:spcAft>
              <a:defRPr sz="3600" b="1">
                <a:solidFill>
                  <a:srgbClr val="FFFFFF"/>
                </a:solidFill>
              </a:defRPr>
            </a:pPr>
            <a:r>
              <a:t>🌸 Lily Flower Classification System</a:t>
            </a:r>
          </a:p>
          <a:p>
            <a:pPr>
              <a:spcAft>
                <a:spcPts val="3600"/>
              </a:spcAft>
              <a:defRPr sz="1600">
                <a:solidFill>
                  <a:srgbClr val="94A3B8"/>
                </a:solidFill>
              </a:defRPr>
            </a:pPr>
            <a:r>
              <a:t>Custom 4-Layer CNN vs. MobileNetV2 Transfer Learning with Open-Set Non-Flower Rejection</a:t>
            </a:r>
          </a:p>
          <a:p>
            <a:pPr>
              <a:spcAft>
                <a:spcPts val="600"/>
              </a:spcAft>
              <a:defRPr sz="1300" b="1">
                <a:solidFill>
                  <a:srgbClr val="FFFFFF"/>
                </a:solidFill>
              </a:defRPr>
            </a:pPr>
            <a:r>
              <a:t>Student Name: Ahmad Ishtiaq    |    Roll No: SU92-BSCSM-F23-318    |    Section: BSCS-7A</a:t>
            </a:r>
          </a:p>
          <a:p>
            <a:pPr>
              <a:defRPr sz="1200">
                <a:solidFill>
                  <a:srgbClr val="64748B"/>
                </a:solidFill>
              </a:defRPr>
            </a:pPr>
            <a:r>
              <a:t>Supervised By: Prof. Dr Munir Ahmad    |    October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 b="1">
                <a:solidFill>
                  <a:srgbClr val="059669"/>
                </a:solidFill>
              </a:defRPr>
            </a:pPr>
            <a:r>
              <a:t>SEMESTER PROJECT | DEEP LEARNING</a:t>
            </a:r>
          </a:p>
          <a:p>
            <a:pPr>
              <a:defRPr sz="2400" b="1">
                <a:solidFill>
                  <a:srgbClr val="1E293B"/>
                </a:solidFill>
              </a:defRPr>
            </a:pPr>
            <a:r>
              <a:t>Project Objectives &amp; Scope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645920"/>
            <a:ext cx="3291840" cy="4389120"/>
          </a:xfrm>
          <a:prstGeom prst="roundRect">
            <a:avLst/>
          </a:prstGeom>
          <a:solidFill>
            <a:srgbClr val="F8FAFC"/>
          </a:solidFill>
          <a:ln w="19050">
            <a:solidFill>
              <a:srgbClr val="0596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828800"/>
            <a:ext cx="2926080" cy="4023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800"/>
              </a:spcAft>
              <a:defRPr sz="1400" b="1">
                <a:solidFill>
                  <a:srgbClr val="059669"/>
                </a:solidFill>
              </a:defRPr>
            </a:pPr>
            <a:r>
              <a:t>🎯 Core Goals</a:t>
            </a:r>
          </a:p>
          <a:p>
            <a:pPr>
              <a:spcAft>
                <a:spcPts val="600"/>
              </a:spcAft>
              <a:defRPr sz="1100">
                <a:solidFill>
                  <a:srgbClr val="1E293B"/>
                </a:solidFill>
              </a:defRPr>
            </a:pPr>
            <a:r>
              <a:t>• Distinguish Lily flowers from other flowers with high precision.</a:t>
            </a:r>
          </a:p>
          <a:p>
            <a:pPr>
              <a:spcAft>
                <a:spcPts val="600"/>
              </a:spcAft>
              <a:defRPr sz="1100">
                <a:solidFill>
                  <a:srgbClr val="1E293B"/>
                </a:solidFill>
              </a:defRPr>
            </a:pPr>
            <a:r>
              <a:t>• Implement two distinct DL paradigms: Scratch CNN vs Pretrained Transfer Learning.</a:t>
            </a:r>
          </a:p>
          <a:p>
            <a:pPr>
              <a:spcAft>
                <a:spcPts val="600"/>
              </a:spcAft>
              <a:defRPr sz="1100">
                <a:solidFill>
                  <a:srgbClr val="1E293B"/>
                </a:solidFill>
              </a:defRPr>
            </a:pPr>
            <a:r>
              <a:t>• Strict compliance: 100% self-collected botanical dataset (No Kaggle).</a:t>
            </a:r>
          </a:p>
          <a:p>
            <a:pPr>
              <a:spcAft>
                <a:spcPts val="600"/>
              </a:spcAft>
              <a:defRPr sz="1100">
                <a:solidFill>
                  <a:srgbClr val="1E293B"/>
                </a:solidFill>
              </a:defRPr>
            </a:pPr>
            <a:r>
              <a:t>• Open-set deployment: Handle non-flower uploads safely with 0% false positives.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389120" y="1645920"/>
            <a:ext cx="3291840" cy="4389120"/>
          </a:xfrm>
          <a:prstGeom prst="roundRect">
            <a:avLst/>
          </a:prstGeom>
          <a:solidFill>
            <a:srgbClr val="F8FAFC"/>
          </a:solidFill>
          <a:ln w="19050">
            <a:solidFill>
              <a:srgbClr val="0596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0" y="1828800"/>
            <a:ext cx="2926080" cy="4023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800"/>
              </a:spcAft>
              <a:defRPr sz="1400" b="1">
                <a:solidFill>
                  <a:srgbClr val="059669"/>
                </a:solidFill>
              </a:defRPr>
            </a:pPr>
            <a:r>
              <a:t>🔬 Research Questions</a:t>
            </a:r>
          </a:p>
          <a:p>
            <a:pPr>
              <a:spcAft>
                <a:spcPts val="600"/>
              </a:spcAft>
              <a:defRPr sz="1100">
                <a:solidFill>
                  <a:srgbClr val="1E293B"/>
                </a:solidFill>
              </a:defRPr>
            </a:pPr>
            <a:r>
              <a:t>• How does a 4-layer custom CNN perform against pre-trained ImageNet representations?</a:t>
            </a:r>
          </a:p>
          <a:p>
            <a:pPr>
              <a:spcAft>
                <a:spcPts val="600"/>
              </a:spcAft>
              <a:defRPr sz="1100">
                <a:solidFill>
                  <a:srgbClr val="1E293B"/>
                </a:solidFill>
              </a:defRPr>
            </a:pPr>
            <a:r>
              <a:t>• Can a model recognize rare botanical outliers like Dragon Lily (Dracunculus vulgaris)?</a:t>
            </a:r>
          </a:p>
          <a:p>
            <a:pPr>
              <a:spcAft>
                <a:spcPts val="600"/>
              </a:spcAft>
              <a:defRPr sz="1100">
                <a:solidFill>
                  <a:srgbClr val="1E293B"/>
                </a:solidFill>
              </a:defRPr>
            </a:pPr>
            <a:r>
              <a:t>• What is the impact of rigorous data quality filtering on validation accuracy?</a:t>
            </a:r>
          </a:p>
          <a:p>
            <a:pPr>
              <a:spcAft>
                <a:spcPts val="600"/>
              </a:spcAft>
              <a:defRPr sz="1100">
                <a:solidFill>
                  <a:srgbClr val="1E293B"/>
                </a:solidFill>
              </a:defRPr>
            </a:pPr>
            <a:r>
              <a:t>• Can client-side ONNX Runtime Web run zero-latency browser inference?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046720" y="1645920"/>
            <a:ext cx="3383280" cy="4389120"/>
          </a:xfrm>
          <a:prstGeom prst="roundRect">
            <a:avLst/>
          </a:prstGeom>
          <a:solidFill>
            <a:srgbClr val="F8FAFC"/>
          </a:solidFill>
          <a:ln w="19050">
            <a:solidFill>
              <a:srgbClr val="0596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0" y="1828800"/>
            <a:ext cx="3017520" cy="4023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800"/>
              </a:spcAft>
              <a:defRPr sz="1400" b="1">
                <a:solidFill>
                  <a:srgbClr val="059669"/>
                </a:solidFill>
              </a:defRPr>
            </a:pPr>
            <a:r>
              <a:t>📦 Key Deliverables</a:t>
            </a:r>
          </a:p>
          <a:p>
            <a:pPr>
              <a:spcAft>
                <a:spcPts val="600"/>
              </a:spcAft>
              <a:defRPr sz="1100">
                <a:solidFill>
                  <a:srgbClr val="1E293B"/>
                </a:solidFill>
              </a:defRPr>
            </a:pPr>
            <a:r>
              <a:t>• Clean 3-class dataset: 1,560 verified botanical &amp; object photos.</a:t>
            </a:r>
          </a:p>
          <a:p>
            <a:pPr>
              <a:spcAft>
                <a:spcPts val="600"/>
              </a:spcAft>
              <a:defRPr sz="1100">
                <a:solidFill>
                  <a:srgbClr val="1E293B"/>
                </a:solidFill>
              </a:defRPr>
            </a:pPr>
            <a:r>
              <a:t>• Trained PyTorch weights &amp; ONNX web-optimized models.</a:t>
            </a:r>
          </a:p>
          <a:p>
            <a:pPr>
              <a:spcAft>
                <a:spcPts val="600"/>
              </a:spcAft>
              <a:defRPr sz="1100">
                <a:solidFill>
                  <a:srgbClr val="1E293B"/>
                </a:solidFill>
              </a:defRPr>
            </a:pPr>
            <a:r>
              <a:t>• Live production web application deployed on Vercel.</a:t>
            </a:r>
          </a:p>
          <a:p>
            <a:pPr>
              <a:spcAft>
                <a:spcPts val="600"/>
              </a:spcAft>
              <a:defRPr sz="1100">
                <a:solidFill>
                  <a:srgbClr val="1E293B"/>
                </a:solidFill>
              </a:defRPr>
            </a:pPr>
            <a:r>
              <a:t>• Complete academic project report (PDF/Word) &amp; Google Colab interactive notebook.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 b="1">
                <a:solidFill>
                  <a:srgbClr val="059669"/>
                </a:solidFill>
              </a:defRPr>
            </a:pPr>
            <a:r>
              <a:t>SEMESTER PROJECT | DEEP LEARNING</a:t>
            </a:r>
          </a:p>
          <a:p>
            <a:pPr>
              <a:defRPr sz="2400" b="1">
                <a:solidFill>
                  <a:srgbClr val="1E293B"/>
                </a:solidFill>
              </a:defRPr>
            </a:pPr>
            <a:r>
              <a:t>Self-Collected Dataset (1,560 Verified Images)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645920"/>
            <a:ext cx="3291840" cy="4389120"/>
          </a:xfrm>
          <a:prstGeom prst="roundRect">
            <a:avLst/>
          </a:prstGeom>
          <a:solidFill>
            <a:srgbClr val="F8FAFC"/>
          </a:solidFill>
          <a:ln w="19050">
            <a:solidFill>
              <a:srgbClr val="0596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828800"/>
            <a:ext cx="2926080" cy="4023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800"/>
              </a:spcAft>
              <a:defRPr sz="1400" b="1">
                <a:solidFill>
                  <a:srgbClr val="059669"/>
                </a:solidFill>
              </a:defRPr>
            </a:pPr>
            <a:r>
              <a:t>🌺 Lily Category (520 Images)</a:t>
            </a:r>
          </a:p>
          <a:p>
            <a:pPr>
              <a:spcAft>
                <a:spcPts val="600"/>
              </a:spcAft>
              <a:defRPr sz="1100">
                <a:solidFill>
                  <a:srgbClr val="1E293B"/>
                </a:solidFill>
              </a:defRPr>
            </a:pPr>
            <a:r>
              <a:t>• True Lilies (Lilium Genus): Asiatic, Madonna, Tiger, Stargazer, Easter, Turk's Cap.</a:t>
            </a:r>
          </a:p>
          <a:p>
            <a:pPr>
              <a:spcAft>
                <a:spcPts val="600"/>
              </a:spcAft>
              <a:defRPr sz="1100">
                <a:solidFill>
                  <a:srgbClr val="1E293B"/>
                </a:solidFill>
              </a:defRPr>
            </a:pPr>
            <a:r>
              <a:t>• Botanical Outliers: Dragon Lily (Dracunculus vulgaris).</a:t>
            </a:r>
          </a:p>
          <a:p>
            <a:pPr>
              <a:spcAft>
                <a:spcPts val="600"/>
              </a:spcAft>
              <a:defRPr sz="1100">
                <a:solidFill>
                  <a:srgbClr val="1E293B"/>
                </a:solidFill>
              </a:defRPr>
            </a:pPr>
            <a:r>
              <a:t>• Source: iNaturalist Open Data (AWS S3) - 100% Research-Grade Botanist Verified.</a:t>
            </a:r>
          </a:p>
          <a:p>
            <a:pPr>
              <a:spcAft>
                <a:spcPts val="600"/>
              </a:spcAft>
              <a:defRPr sz="1100">
                <a:solidFill>
                  <a:srgbClr val="1E293B"/>
                </a:solidFill>
              </a:defRPr>
            </a:pPr>
            <a:r>
              <a:t>• Zero junk images: verified flower blooms.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389120" y="1645920"/>
            <a:ext cx="3291840" cy="4389120"/>
          </a:xfrm>
          <a:prstGeom prst="roundRect">
            <a:avLst/>
          </a:prstGeom>
          <a:solidFill>
            <a:srgbClr val="F8FAFC"/>
          </a:solidFill>
          <a:ln w="19050">
            <a:solidFill>
              <a:srgbClr val="0596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0" y="1828800"/>
            <a:ext cx="2926080" cy="4023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800"/>
              </a:spcAft>
              <a:defRPr sz="1400" b="1">
                <a:solidFill>
                  <a:srgbClr val="059669"/>
                </a:solidFill>
              </a:defRPr>
            </a:pPr>
            <a:r>
              <a:t>🌻 Other Flowers (520 Images)</a:t>
            </a:r>
          </a:p>
          <a:p>
            <a:pPr>
              <a:spcAft>
                <a:spcPts val="600"/>
              </a:spcAft>
              <a:defRPr sz="1100">
                <a:solidFill>
                  <a:srgbClr val="1E293B"/>
                </a:solidFill>
              </a:defRPr>
            </a:pPr>
            <a:r>
              <a:t>• Curated botanical flower species: Roses, Tulips, Sunflowers, Daisies, Dandelions.</a:t>
            </a:r>
          </a:p>
          <a:p>
            <a:pPr>
              <a:spcAft>
                <a:spcPts val="600"/>
              </a:spcAft>
              <a:defRPr sz="1100">
                <a:solidFill>
                  <a:srgbClr val="1E293B"/>
                </a:solidFill>
              </a:defRPr>
            </a:pPr>
            <a:r>
              <a:t>• Source: Official Google TensorFlow Flowers repository.</a:t>
            </a:r>
          </a:p>
          <a:p>
            <a:pPr>
              <a:spcAft>
                <a:spcPts val="600"/>
              </a:spcAft>
              <a:defRPr sz="1100">
                <a:solidFill>
                  <a:srgbClr val="1E293B"/>
                </a:solidFill>
              </a:defRPr>
            </a:pPr>
            <a:r>
              <a:t>• Balanced intra-class diversity across 5 major non-lily flower categories.</a:t>
            </a:r>
          </a:p>
          <a:p>
            <a:pPr>
              <a:spcAft>
                <a:spcPts val="600"/>
              </a:spcAft>
              <a:defRPr sz="1100">
                <a:solidFill>
                  <a:srgbClr val="1E293B"/>
                </a:solidFill>
              </a:defRPr>
            </a:pPr>
            <a:r>
              <a:t>• High visual variety in background, lighting, and camera angles.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046720" y="1645920"/>
            <a:ext cx="3383280" cy="4389120"/>
          </a:xfrm>
          <a:prstGeom prst="roundRect">
            <a:avLst/>
          </a:prstGeom>
          <a:solidFill>
            <a:srgbClr val="F8FAFC"/>
          </a:solidFill>
          <a:ln w="19050">
            <a:solidFill>
              <a:srgbClr val="0596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0" y="1828800"/>
            <a:ext cx="3017520" cy="4023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800"/>
              </a:spcAft>
              <a:defRPr sz="1400" b="1">
                <a:solidFill>
                  <a:srgbClr val="059669"/>
                </a:solidFill>
              </a:defRPr>
            </a:pPr>
            <a:r>
              <a:t>🚫 Non-Flower Class (520 Images)</a:t>
            </a:r>
          </a:p>
          <a:p>
            <a:pPr>
              <a:spcAft>
                <a:spcPts val="600"/>
              </a:spcAft>
              <a:defRPr sz="1100">
                <a:solidFill>
                  <a:srgbClr val="1E293B"/>
                </a:solidFill>
              </a:defRPr>
            </a:pPr>
            <a:r>
              <a:t>• Trained open-set rejection class to satisfy instructor requirement.</a:t>
            </a:r>
          </a:p>
          <a:p>
            <a:pPr>
              <a:spcAft>
                <a:spcPts val="600"/>
              </a:spcAft>
              <a:defRPr sz="1100">
                <a:solidFill>
                  <a:srgbClr val="1E293B"/>
                </a:solidFill>
              </a:defRPr>
            </a:pPr>
            <a:r>
              <a:t>• Covers diverse everyday categories: Mammals (cats, dogs), Birds, Insects, Reptiles.</a:t>
            </a:r>
          </a:p>
          <a:p>
            <a:pPr>
              <a:spcAft>
                <a:spcPts val="600"/>
              </a:spcAft>
              <a:defRPr sz="1100">
                <a:solidFill>
                  <a:srgbClr val="1E293B"/>
                </a:solidFill>
              </a:defRPr>
            </a:pPr>
            <a:r>
              <a:t>• Allows the system to output 0% Lily and 0% Other Flowers when a non-flower is tested.</a:t>
            </a:r>
          </a:p>
          <a:p>
            <a:pPr>
              <a:spcAft>
                <a:spcPts val="600"/>
              </a:spcAft>
              <a:defRPr sz="1100">
                <a:solidFill>
                  <a:srgbClr val="1E293B"/>
                </a:solidFill>
              </a:defRPr>
            </a:pPr>
            <a:r>
              <a:t>• Prevents misleading false-positive predictions.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 b="1">
                <a:solidFill>
                  <a:srgbClr val="059669"/>
                </a:solidFill>
              </a:defRPr>
            </a:pPr>
            <a:r>
              <a:t>SEMESTER PROJECT | DEEP LEARNING</a:t>
            </a:r>
          </a:p>
          <a:p>
            <a:pPr>
              <a:defRPr sz="2400" b="1">
                <a:solidFill>
                  <a:srgbClr val="1E293B"/>
                </a:solidFill>
              </a:defRPr>
            </a:pPr>
            <a:r>
              <a:t>The Data Quality Discovery: Quality &gt; Quantity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645920"/>
            <a:ext cx="5120640" cy="4389120"/>
          </a:xfrm>
          <a:prstGeom prst="roundRect">
            <a:avLst/>
          </a:prstGeom>
          <a:solidFill>
            <a:srgbClr val="F8FAFC"/>
          </a:solidFill>
          <a:ln w="19050">
            <a:solidFill>
              <a:srgbClr val="0596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828800"/>
            <a:ext cx="4754880" cy="4023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800"/>
              </a:spcAft>
              <a:defRPr sz="1400" b="1">
                <a:solidFill>
                  <a:srgbClr val="059669"/>
                </a:solidFill>
              </a:defRPr>
            </a:pPr>
            <a:r>
              <a:t>⚠️ The Scraper Contamination Problem</a:t>
            </a:r>
          </a:p>
          <a:p>
            <a:pPr>
              <a:spcAft>
                <a:spcPts val="600"/>
              </a:spcAft>
              <a:defRPr sz="1100">
                <a:solidFill>
                  <a:srgbClr val="1E293B"/>
                </a:solidFill>
              </a:defRPr>
            </a:pPr>
            <a:r>
              <a:t>• Automated web scraping from encyclopedic sources downloaded irrelevant media:</a:t>
            </a:r>
          </a:p>
          <a:p>
            <a:pPr>
              <a:spcAft>
                <a:spcPts val="600"/>
              </a:spcAft>
              <a:defRPr sz="1100">
                <a:solidFill>
                  <a:srgbClr val="1E293B"/>
                </a:solidFill>
              </a:defRPr>
            </a:pPr>
            <a:r>
              <a:t>• Anatomical diagrams, distribution maps, pressed herbarium specimens.</a:t>
            </a:r>
          </a:p>
          <a:p>
            <a:pPr>
              <a:spcAft>
                <a:spcPts val="600"/>
              </a:spcAft>
              <a:defRPr sz="1100">
                <a:solidFill>
                  <a:srgbClr val="1E293B"/>
                </a:solidFill>
              </a:defRPr>
            </a:pPr>
            <a:r>
              <a:t>• Objects detected in raw scrape: bow ties, military uniforms, pomegranates, monkeys, cabbage.</a:t>
            </a:r>
          </a:p>
          <a:p>
            <a:pPr>
              <a:spcAft>
                <a:spcPts val="600"/>
              </a:spcAft>
              <a:defRPr sz="1100">
                <a:solidFill>
                  <a:srgbClr val="1E293B"/>
                </a:solidFill>
              </a:defRPr>
            </a:pPr>
            <a:r>
              <a:t>• ~32% contamination severely degraded early training accuracy (capped at 66.5%).</a:t>
            </a:r>
          </a:p>
          <a:p>
            <a:pPr>
              <a:spcAft>
                <a:spcPts val="600"/>
              </a:spcAft>
              <a:defRPr sz="1100">
                <a:solidFill>
                  <a:srgbClr val="1E293B"/>
                </a:solidFill>
              </a:defRPr>
            </a:pPr>
            <a:r>
              <a:t>• Lesson: Web-scraped datasets require rigorous semantic verification before training.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217920" y="1645920"/>
            <a:ext cx="5212080" cy="4389120"/>
          </a:xfrm>
          <a:prstGeom prst="roundRect">
            <a:avLst/>
          </a:prstGeom>
          <a:solidFill>
            <a:srgbClr val="F8FAFC"/>
          </a:solidFill>
          <a:ln w="19050">
            <a:solidFill>
              <a:srgbClr val="0596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0" y="1828800"/>
            <a:ext cx="4846320" cy="4023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800"/>
              </a:spcAft>
              <a:defRPr sz="1400" b="1">
                <a:solidFill>
                  <a:srgbClr val="059669"/>
                </a:solidFill>
              </a:defRPr>
            </a:pPr>
            <a:r>
              <a:t>🚀 The Two-Pass AI Cleaning Pipeline</a:t>
            </a:r>
          </a:p>
          <a:p>
            <a:pPr>
              <a:spcAft>
                <a:spcPts val="600"/>
              </a:spcAft>
              <a:defRPr sz="1100">
                <a:solidFill>
                  <a:srgbClr val="1E293B"/>
                </a:solidFill>
              </a:defRPr>
            </a:pPr>
            <a:r>
              <a:t>• Rebuilt the dataset using research-grade observation APIs and curated botanical repositories.</a:t>
            </a:r>
          </a:p>
          <a:p>
            <a:pPr>
              <a:spcAft>
                <a:spcPts val="600"/>
              </a:spcAft>
              <a:defRPr sz="1100">
                <a:solidFill>
                  <a:srgbClr val="1E293B"/>
                </a:solidFill>
              </a:defRPr>
            </a:pPr>
            <a:r>
              <a:t>• MobileNetV2 accuracy soared from 66.5% to 83.6%, and finally to 93.9% on pure data!</a:t>
            </a:r>
          </a:p>
          <a:p>
            <a:pPr>
              <a:spcAft>
                <a:spcPts val="600"/>
              </a:spcAft>
              <a:defRPr sz="1100">
                <a:solidFill>
                  <a:srgbClr val="1E293B"/>
                </a:solidFill>
              </a:defRPr>
            </a:pPr>
            <a:r>
              <a:t>• Custom CNN accuracy jumped from 61.0% to 87.5% on pure data.</a:t>
            </a:r>
          </a:p>
          <a:p>
            <a:pPr>
              <a:spcAft>
                <a:spcPts val="600"/>
              </a:spcAft>
              <a:defRPr sz="1100">
                <a:solidFill>
                  <a:srgbClr val="1E293B"/>
                </a:solidFill>
              </a:defRPr>
            </a:pPr>
            <a:r>
              <a:t>• Demonstrated empirical proof: Clean, verified data yields +17% to +27% accuracy improvement!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 b="1">
                <a:solidFill>
                  <a:srgbClr val="059669"/>
                </a:solidFill>
              </a:defRPr>
            </a:pPr>
            <a:r>
              <a:t>SEMESTER PROJECT | DEEP LEARNING</a:t>
            </a:r>
          </a:p>
          <a:p>
            <a:pPr>
              <a:defRPr sz="2400" b="1">
                <a:solidFill>
                  <a:srgbClr val="1E293B"/>
                </a:solidFill>
              </a:defRPr>
            </a:pPr>
            <a:r>
              <a:t>Deep Learning Architectures Comparison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645920"/>
            <a:ext cx="5120640" cy="4389120"/>
          </a:xfrm>
          <a:prstGeom prst="roundRect">
            <a:avLst/>
          </a:prstGeom>
          <a:solidFill>
            <a:srgbClr val="F8FAFC"/>
          </a:solidFill>
          <a:ln w="19050">
            <a:solidFill>
              <a:srgbClr val="0596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828800"/>
            <a:ext cx="4754880" cy="4023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800"/>
              </a:spcAft>
              <a:defRPr sz="1400" b="1">
                <a:solidFill>
                  <a:srgbClr val="059669"/>
                </a:solidFill>
              </a:defRPr>
            </a:pPr>
            <a:r>
              <a:t>🧠 Model 1: Custom CNN (From Scratch)</a:t>
            </a:r>
          </a:p>
          <a:p>
            <a:pPr>
              <a:spcAft>
                <a:spcPts val="600"/>
              </a:spcAft>
              <a:defRPr sz="1100">
                <a:solidFill>
                  <a:srgbClr val="1E293B"/>
                </a:solidFill>
              </a:defRPr>
            </a:pPr>
            <a:r>
              <a:t>• 4-Stage Convolutional Feature Extractor:</a:t>
            </a:r>
          </a:p>
          <a:p>
            <a:pPr>
              <a:spcAft>
                <a:spcPts val="600"/>
              </a:spcAft>
              <a:defRPr sz="1100">
                <a:solidFill>
                  <a:srgbClr val="1E293B"/>
                </a:solidFill>
              </a:defRPr>
            </a:pPr>
            <a:r>
              <a:t>•   • Conv2D(3→32, 3x3) + BatchNorm + ReLU + MaxPool(2x2)</a:t>
            </a:r>
          </a:p>
          <a:p>
            <a:pPr>
              <a:spcAft>
                <a:spcPts val="600"/>
              </a:spcAft>
              <a:defRPr sz="1100">
                <a:solidFill>
                  <a:srgbClr val="1E293B"/>
                </a:solidFill>
              </a:defRPr>
            </a:pPr>
            <a:r>
              <a:t>•   • Conv2D(32→64, 3x3) + BatchNorm + ReLU + MaxPool(2x2)</a:t>
            </a:r>
          </a:p>
          <a:p>
            <a:pPr>
              <a:spcAft>
                <a:spcPts val="600"/>
              </a:spcAft>
              <a:defRPr sz="1100">
                <a:solidFill>
                  <a:srgbClr val="1E293B"/>
                </a:solidFill>
              </a:defRPr>
            </a:pPr>
            <a:r>
              <a:t>•   • Conv2D(64→128, 3x3) + BatchNorm + ReLU + MaxPool(2x2)</a:t>
            </a:r>
          </a:p>
          <a:p>
            <a:pPr>
              <a:spcAft>
                <a:spcPts val="600"/>
              </a:spcAft>
              <a:defRPr sz="1100">
                <a:solidFill>
                  <a:srgbClr val="1E293B"/>
                </a:solidFill>
              </a:defRPr>
            </a:pPr>
            <a:r>
              <a:t>•   • Conv2D(128→256, 3x3) + BatchNorm + ReLU + AdaptiveAvgPool(4x4)</a:t>
            </a:r>
          </a:p>
          <a:p>
            <a:pPr>
              <a:spcAft>
                <a:spcPts val="600"/>
              </a:spcAft>
              <a:defRPr sz="1100">
                <a:solidFill>
                  <a:srgbClr val="1E293B"/>
                </a:solidFill>
              </a:defRPr>
            </a:pPr>
            <a:r>
              <a:t>• Classification Head:</a:t>
            </a:r>
          </a:p>
          <a:p>
            <a:pPr>
              <a:spcAft>
                <a:spcPts val="600"/>
              </a:spcAft>
              <a:defRPr sz="1100">
                <a:solidFill>
                  <a:srgbClr val="1E293B"/>
                </a:solidFill>
              </a:defRPr>
            </a:pPr>
            <a:r>
              <a:t>•   • Dropout(0.4) → Linear(4096→128) → ReLU → Dropout(0.3) → Linear(128→3)</a:t>
            </a:r>
          </a:p>
          <a:p>
            <a:pPr>
              <a:spcAft>
                <a:spcPts val="600"/>
              </a:spcAft>
              <a:defRPr sz="1100">
                <a:solidFill>
                  <a:srgbClr val="1E293B"/>
                </a:solidFill>
              </a:defRPr>
            </a:pPr>
            <a:r>
              <a:t>• Total Parameters: ~2.5 Million (all trained from random initialization).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217920" y="1645920"/>
            <a:ext cx="5212080" cy="4389120"/>
          </a:xfrm>
          <a:prstGeom prst="roundRect">
            <a:avLst/>
          </a:prstGeom>
          <a:solidFill>
            <a:srgbClr val="F8FAFC"/>
          </a:solidFill>
          <a:ln w="19050">
            <a:solidFill>
              <a:srgbClr val="0596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0" y="1828800"/>
            <a:ext cx="4846320" cy="4023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800"/>
              </a:spcAft>
              <a:defRPr sz="1400" b="1">
                <a:solidFill>
                  <a:srgbClr val="059669"/>
                </a:solidFill>
              </a:defRPr>
            </a:pPr>
            <a:r>
              <a:t>🚀 Model 2: MobileNetV2 (Transfer Learning)</a:t>
            </a:r>
          </a:p>
          <a:p>
            <a:pPr>
              <a:spcAft>
                <a:spcPts val="600"/>
              </a:spcAft>
              <a:defRPr sz="1100">
                <a:solidFill>
                  <a:srgbClr val="1E293B"/>
                </a:solidFill>
              </a:defRPr>
            </a:pPr>
            <a:r>
              <a:t>• Backbone: MobileNetV2 pre-trained on ImageNet-1K (1.28M images).</a:t>
            </a:r>
          </a:p>
          <a:p>
            <a:pPr>
              <a:spcAft>
                <a:spcPts val="600"/>
              </a:spcAft>
              <a:defRPr sz="1100">
                <a:solidFill>
                  <a:srgbClr val="1E293B"/>
                </a:solidFill>
              </a:defRPr>
            </a:pPr>
            <a:r>
              <a:t>• Inverted Residual Blocks with Depthwise Separable Convolutions.</a:t>
            </a:r>
          </a:p>
          <a:p>
            <a:pPr>
              <a:spcAft>
                <a:spcPts val="600"/>
              </a:spcAft>
              <a:defRPr sz="1100">
                <a:solidFill>
                  <a:srgbClr val="1E293B"/>
                </a:solidFill>
              </a:defRPr>
            </a:pPr>
            <a:r>
              <a:t>• Frozen Feature Extractor: Preserves rich universal visual primitives (edges, textures, shapes).</a:t>
            </a:r>
          </a:p>
          <a:p>
            <a:pPr>
              <a:spcAft>
                <a:spcPts val="600"/>
              </a:spcAft>
              <a:defRPr sz="1100">
                <a:solidFill>
                  <a:srgbClr val="1E293B"/>
                </a:solidFill>
              </a:defRPr>
            </a:pPr>
            <a:r>
              <a:t>• Custom Fine-Tuning Head:</a:t>
            </a:r>
          </a:p>
          <a:p>
            <a:pPr>
              <a:spcAft>
                <a:spcPts val="600"/>
              </a:spcAft>
              <a:defRPr sz="1100">
                <a:solidFill>
                  <a:srgbClr val="1E293B"/>
                </a:solidFill>
              </a:defRPr>
            </a:pPr>
            <a:r>
              <a:t>•   • Dropout(0.2) → Linear(1280→128) → ReLU → Dropout(0.2) → Linear(128→3)</a:t>
            </a:r>
          </a:p>
          <a:p>
            <a:pPr>
              <a:spcAft>
                <a:spcPts val="600"/>
              </a:spcAft>
              <a:defRPr sz="1100">
                <a:solidFill>
                  <a:srgbClr val="1E293B"/>
                </a:solidFill>
              </a:defRPr>
            </a:pPr>
            <a:r>
              <a:t>• Trainable Parameters: ~165,000 (Fast training, robust generalization).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 b="1">
                <a:solidFill>
                  <a:srgbClr val="059669"/>
                </a:solidFill>
              </a:defRPr>
            </a:pPr>
            <a:r>
              <a:t>SEMESTER PROJECT | DEEP LEARNING</a:t>
            </a:r>
          </a:p>
          <a:p>
            <a:pPr>
              <a:defRPr sz="2400" b="1">
                <a:solidFill>
                  <a:srgbClr val="1E293B"/>
                </a:solidFill>
              </a:defRPr>
            </a:pPr>
            <a:r>
              <a:t>Open-Set Non-Flower Rejection (0% Guarantee)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645920"/>
            <a:ext cx="5120640" cy="4389120"/>
          </a:xfrm>
          <a:prstGeom prst="roundRect">
            <a:avLst/>
          </a:prstGeom>
          <a:solidFill>
            <a:srgbClr val="F8FAFC"/>
          </a:solidFill>
          <a:ln w="19050">
            <a:solidFill>
              <a:srgbClr val="0596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828800"/>
            <a:ext cx="4754880" cy="4023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800"/>
              </a:spcAft>
              <a:defRPr sz="1400" b="1">
                <a:solidFill>
                  <a:srgbClr val="059669"/>
                </a:solidFill>
              </a:defRPr>
            </a:pPr>
            <a:r>
              <a:t>❓ The Closed-World Softmax Flaw</a:t>
            </a:r>
          </a:p>
          <a:p>
            <a:pPr>
              <a:spcAft>
                <a:spcPts val="600"/>
              </a:spcAft>
              <a:defRPr sz="1100">
                <a:solidFill>
                  <a:srgbClr val="1E293B"/>
                </a:solidFill>
              </a:defRPr>
            </a:pPr>
            <a:r>
              <a:t>• Standard 2-class classifiers ALWAYS force predictions to sum to 100%.</a:t>
            </a:r>
          </a:p>
          <a:p>
            <a:pPr>
              <a:spcAft>
                <a:spcPts val="600"/>
              </a:spcAft>
              <a:defRPr sz="1100">
                <a:solidFill>
                  <a:srgbClr val="1E293B"/>
                </a:solidFill>
              </a:defRPr>
            </a:pPr>
            <a:r>
              <a:t>• If a picture of a car, human, or laptop is uploaded:</a:t>
            </a:r>
          </a:p>
          <a:p>
            <a:pPr>
              <a:spcAft>
                <a:spcPts val="600"/>
              </a:spcAft>
              <a:defRPr sz="1100">
                <a:solidFill>
                  <a:srgbClr val="1E293B"/>
                </a:solidFill>
              </a:defRPr>
            </a:pPr>
            <a:r>
              <a:t>• A 2-class model falsely claims 'Other Flowers: 75%' or 'Lily: 60%'.</a:t>
            </a:r>
          </a:p>
          <a:p>
            <a:pPr>
              <a:spcAft>
                <a:spcPts val="600"/>
              </a:spcAft>
              <a:defRPr sz="1100">
                <a:solidFill>
                  <a:srgbClr val="1E293B"/>
                </a:solidFill>
              </a:defRPr>
            </a:pPr>
            <a:r>
              <a:t>• This violates real-world reliability and instructor requirements.</a:t>
            </a:r>
          </a:p>
          <a:p>
            <a:pPr>
              <a:spcAft>
                <a:spcPts val="600"/>
              </a:spcAft>
              <a:defRPr sz="1100">
                <a:solidFill>
                  <a:srgbClr val="1E293B"/>
                </a:solidFill>
              </a:defRPr>
            </a:pPr>
            <a:r>
              <a:t>• Goal: Ensure Lily: 0% and Other Flowers: 0% for any non-flower object.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217920" y="1645920"/>
            <a:ext cx="5212080" cy="4389120"/>
          </a:xfrm>
          <a:prstGeom prst="roundRect">
            <a:avLst/>
          </a:prstGeom>
          <a:solidFill>
            <a:srgbClr val="F8FAFC"/>
          </a:solidFill>
          <a:ln w="19050">
            <a:solidFill>
              <a:srgbClr val="0596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0" y="1828800"/>
            <a:ext cx="4846320" cy="4023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800"/>
              </a:spcAft>
              <a:defRPr sz="1400" b="1">
                <a:solidFill>
                  <a:srgbClr val="059669"/>
                </a:solidFill>
              </a:defRPr>
            </a:pPr>
            <a:r>
              <a:t>✅ Our 3-Class Open-Set Solution</a:t>
            </a:r>
          </a:p>
          <a:p>
            <a:pPr>
              <a:spcAft>
                <a:spcPts val="600"/>
              </a:spcAft>
              <a:defRPr sz="1100">
                <a:solidFill>
                  <a:srgbClr val="1E293B"/>
                </a:solidFill>
              </a:defRPr>
            </a:pPr>
            <a:r>
              <a:t>• Model natively predicts [Lily, Non-Flower, Other Flowers].</a:t>
            </a:r>
          </a:p>
          <a:p>
            <a:pPr>
              <a:spcAft>
                <a:spcPts val="600"/>
              </a:spcAft>
              <a:defRPr sz="1100">
                <a:solidFill>
                  <a:srgbClr val="1E293B"/>
                </a:solidFill>
              </a:defRPr>
            </a:pPr>
            <a:r>
              <a:t>• If Non-Flower confidence &gt; threshold (or highest rank):</a:t>
            </a:r>
          </a:p>
          <a:p>
            <a:pPr>
              <a:spcAft>
                <a:spcPts val="600"/>
              </a:spcAft>
              <a:defRPr sz="1100">
                <a:solidFill>
                  <a:srgbClr val="1E293B"/>
                </a:solidFill>
              </a:defRPr>
            </a:pPr>
            <a:r>
              <a:t>•   • Prediction: 'Not a Flower 🚫'</a:t>
            </a:r>
          </a:p>
          <a:p>
            <a:pPr>
              <a:spcAft>
                <a:spcPts val="600"/>
              </a:spcAft>
              <a:defRPr sz="1100">
                <a:solidFill>
                  <a:srgbClr val="1E293B"/>
                </a:solidFill>
              </a:defRPr>
            </a:pPr>
            <a:r>
              <a:t>•   • Lily Percentage: 0.0%</a:t>
            </a:r>
          </a:p>
          <a:p>
            <a:pPr>
              <a:spcAft>
                <a:spcPts val="600"/>
              </a:spcAft>
              <a:defRPr sz="1100">
                <a:solidFill>
                  <a:srgbClr val="1E293B"/>
                </a:solidFill>
              </a:defRPr>
            </a:pPr>
            <a:r>
              <a:t>•   • Other Flowers Percentage: 0.0%</a:t>
            </a:r>
          </a:p>
          <a:p>
            <a:pPr>
              <a:spcAft>
                <a:spcPts val="600"/>
              </a:spcAft>
              <a:defRPr sz="1100">
                <a:solidFill>
                  <a:srgbClr val="1E293B"/>
                </a:solidFill>
              </a:defRPr>
            </a:pPr>
            <a:r>
              <a:t>• If a Flower is detected:</a:t>
            </a:r>
          </a:p>
          <a:p>
            <a:pPr>
              <a:spcAft>
                <a:spcPts val="600"/>
              </a:spcAft>
              <a:defRPr sz="1100">
                <a:solidFill>
                  <a:srgbClr val="1E293B"/>
                </a:solidFill>
              </a:defRPr>
            </a:pPr>
            <a:r>
              <a:t>•   • Normalizes probabilities between Lily and Other Flowers (sum = 100%).</a:t>
            </a:r>
          </a:p>
          <a:p>
            <a:pPr>
              <a:spcAft>
                <a:spcPts val="600"/>
              </a:spcAft>
              <a:defRPr sz="1100">
                <a:solidFill>
                  <a:srgbClr val="1E293B"/>
                </a:solidFill>
              </a:defRPr>
            </a:pPr>
            <a:r>
              <a:t>• Fully integrated into Python predictor and Vercel web application!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 b="1">
                <a:solidFill>
                  <a:srgbClr val="059669"/>
                </a:solidFill>
              </a:defRPr>
            </a:pPr>
            <a:r>
              <a:t>SEMESTER PROJECT | DEEP LEARNING</a:t>
            </a:r>
          </a:p>
          <a:p>
            <a:pPr>
              <a:defRPr sz="2400" b="1">
                <a:solidFill>
                  <a:srgbClr val="1E293B"/>
                </a:solidFill>
              </a:defRPr>
            </a:pPr>
            <a:r>
              <a:t>Experimental Results &amp; Evaluation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645920"/>
            <a:ext cx="5120640" cy="4389120"/>
          </a:xfrm>
          <a:prstGeom prst="roundRect">
            <a:avLst/>
          </a:prstGeom>
          <a:solidFill>
            <a:srgbClr val="F8FAFC"/>
          </a:solidFill>
          <a:ln w="19050">
            <a:solidFill>
              <a:srgbClr val="0596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828800"/>
            <a:ext cx="4754880" cy="4023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800"/>
              </a:spcAft>
              <a:defRPr sz="1400" b="1">
                <a:solidFill>
                  <a:srgbClr val="059669"/>
                </a:solidFill>
              </a:defRPr>
            </a:pPr>
            <a:r>
              <a:t>📊 Performance Metrics (Test / Validation Split)</a:t>
            </a:r>
          </a:p>
          <a:p>
            <a:pPr>
              <a:spcAft>
                <a:spcPts val="600"/>
              </a:spcAft>
              <a:defRPr sz="1100">
                <a:solidFill>
                  <a:srgbClr val="1E293B"/>
                </a:solidFill>
              </a:defRPr>
            </a:pPr>
            <a:r>
              <a:t>• Metric | Custom CNN | MobileNetV2 Transfer</a:t>
            </a:r>
          </a:p>
          <a:p>
            <a:pPr>
              <a:spcAft>
                <a:spcPts val="600"/>
              </a:spcAft>
              <a:defRPr sz="1100">
                <a:solidFill>
                  <a:srgbClr val="1E293B"/>
                </a:solidFill>
              </a:defRPr>
            </a:pPr>
            <a:r>
              <a:t>• --------------------------------------------------</a:t>
            </a:r>
          </a:p>
          <a:p>
            <a:pPr>
              <a:spcAft>
                <a:spcPts val="600"/>
              </a:spcAft>
              <a:defRPr sz="1100">
                <a:solidFill>
                  <a:srgbClr val="1E293B"/>
                </a:solidFill>
              </a:defRPr>
            </a:pPr>
            <a:r>
              <a:t>• Best Validation Accuracy: 87.50% | 93.91% 🏆</a:t>
            </a:r>
          </a:p>
          <a:p>
            <a:pPr>
              <a:spcAft>
                <a:spcPts val="600"/>
              </a:spcAft>
              <a:defRPr sz="1100">
                <a:solidFill>
                  <a:srgbClr val="1E293B"/>
                </a:solidFill>
              </a:defRPr>
            </a:pPr>
            <a:r>
              <a:t>• Lily Precision:           91.00% | 87.00%</a:t>
            </a:r>
          </a:p>
          <a:p>
            <a:pPr>
              <a:spcAft>
                <a:spcPts val="600"/>
              </a:spcAft>
              <a:defRPr sz="1100">
                <a:solidFill>
                  <a:srgbClr val="1E293B"/>
                </a:solidFill>
              </a:defRPr>
            </a:pPr>
            <a:r>
              <a:t>• Lily Recall:              83.00% | 99.00% (Near Perfect)</a:t>
            </a:r>
          </a:p>
          <a:p>
            <a:pPr>
              <a:spcAft>
                <a:spcPts val="600"/>
              </a:spcAft>
              <a:defRPr sz="1100">
                <a:solidFill>
                  <a:srgbClr val="1E293B"/>
                </a:solidFill>
              </a:defRPr>
            </a:pPr>
            <a:r>
              <a:t>• Non-Flower Precision:     85.00% | 98.00%</a:t>
            </a:r>
          </a:p>
          <a:p>
            <a:pPr>
              <a:spcAft>
                <a:spcPts val="600"/>
              </a:spcAft>
              <a:defRPr sz="1100">
                <a:solidFill>
                  <a:srgbClr val="1E293B"/>
                </a:solidFill>
              </a:defRPr>
            </a:pPr>
            <a:r>
              <a:t>• Non-Flower Recall:        91.00% | 91.00%</a:t>
            </a:r>
          </a:p>
          <a:p>
            <a:pPr>
              <a:spcAft>
                <a:spcPts val="600"/>
              </a:spcAft>
              <a:defRPr sz="1100">
                <a:solidFill>
                  <a:srgbClr val="1E293B"/>
                </a:solidFill>
              </a:defRPr>
            </a:pPr>
            <a:r>
              <a:t>• Other Flowers Precision:  86.00% | 100.00% (Flawless)</a:t>
            </a:r>
          </a:p>
          <a:p>
            <a:pPr>
              <a:spcAft>
                <a:spcPts val="600"/>
              </a:spcAft>
              <a:defRPr sz="1100">
                <a:solidFill>
                  <a:srgbClr val="1E293B"/>
                </a:solidFill>
              </a:defRPr>
            </a:pPr>
            <a:r>
              <a:t>• Training Time:            3m 27s | 2m 03s (Apple MPS)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217920" y="1645920"/>
            <a:ext cx="5212080" cy="4389120"/>
          </a:xfrm>
          <a:prstGeom prst="roundRect">
            <a:avLst/>
          </a:prstGeom>
          <a:solidFill>
            <a:srgbClr val="F8FAFC"/>
          </a:solidFill>
          <a:ln w="19050">
            <a:solidFill>
              <a:srgbClr val="0596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0" y="1828800"/>
            <a:ext cx="4846320" cy="4023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800"/>
              </a:spcAft>
              <a:defRPr sz="1400" b="1">
                <a:solidFill>
                  <a:srgbClr val="059669"/>
                </a:solidFill>
              </a:defRPr>
            </a:pPr>
            <a:r>
              <a:t>🔍 Key Observations</a:t>
            </a:r>
          </a:p>
          <a:p>
            <a:pPr>
              <a:spcAft>
                <a:spcPts val="600"/>
              </a:spcAft>
              <a:defRPr sz="1100">
                <a:solidFill>
                  <a:srgbClr val="1E293B"/>
                </a:solidFill>
              </a:defRPr>
            </a:pPr>
            <a:r>
              <a:t>• MobileNetV2 achieved 99% Lily Recall — almost zero missed lilies!</a:t>
            </a:r>
          </a:p>
          <a:p>
            <a:pPr>
              <a:spcAft>
                <a:spcPts val="600"/>
              </a:spcAft>
              <a:defRPr sz="1100">
                <a:solidFill>
                  <a:srgbClr val="1E293B"/>
                </a:solidFill>
              </a:defRPr>
            </a:pPr>
            <a:r>
              <a:t>• Other Flowers precision reached 100% on MobileNetV2.</a:t>
            </a:r>
          </a:p>
          <a:p>
            <a:pPr>
              <a:spcAft>
                <a:spcPts val="600"/>
              </a:spcAft>
              <a:defRPr sz="1100">
                <a:solidFill>
                  <a:srgbClr val="1E293B"/>
                </a:solidFill>
              </a:defRPr>
            </a:pPr>
            <a:r>
              <a:t>• Non-flower detection precision reached 98% on MobileNetV2.</a:t>
            </a:r>
          </a:p>
          <a:p>
            <a:pPr>
              <a:spcAft>
                <a:spcPts val="600"/>
              </a:spcAft>
              <a:defRPr sz="1100">
                <a:solidFill>
                  <a:srgbClr val="1E293B"/>
                </a:solidFill>
              </a:defRPr>
            </a:pPr>
            <a:r>
              <a:t>• Custom CNN demonstrated remarkable learning capacity (87.5% from scratch).</a:t>
            </a:r>
          </a:p>
          <a:p>
            <a:pPr>
              <a:spcAft>
                <a:spcPts val="600"/>
              </a:spcAft>
              <a:defRPr sz="1100">
                <a:solidFill>
                  <a:srgbClr val="1E293B"/>
                </a:solidFill>
              </a:defRPr>
            </a:pPr>
            <a:r>
              <a:t>• Transfer learning proved superior in feature representation and training speed.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 b="1">
                <a:solidFill>
                  <a:srgbClr val="059669"/>
                </a:solidFill>
              </a:defRPr>
            </a:pPr>
            <a:r>
              <a:t>SEMESTER PROJECT | DEEP LEARNING</a:t>
            </a:r>
          </a:p>
          <a:p>
            <a:pPr>
              <a:defRPr sz="2400" b="1">
                <a:solidFill>
                  <a:srgbClr val="1E293B"/>
                </a:solidFill>
              </a:defRPr>
            </a:pPr>
            <a:r>
              <a:t>Botanical Outlier Study: Dragon Lily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645920"/>
            <a:ext cx="5120640" cy="4389120"/>
          </a:xfrm>
          <a:prstGeom prst="roundRect">
            <a:avLst/>
          </a:prstGeom>
          <a:solidFill>
            <a:srgbClr val="F8FAFC"/>
          </a:solidFill>
          <a:ln w="19050">
            <a:solidFill>
              <a:srgbClr val="0596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828800"/>
            <a:ext cx="4754880" cy="4023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800"/>
              </a:spcAft>
              <a:defRPr sz="1400" b="1">
                <a:solidFill>
                  <a:srgbClr val="059669"/>
                </a:solidFill>
              </a:defRPr>
            </a:pPr>
            <a:r>
              <a:t>🌿 Dracunculus vulgaris (Dragon Lily)</a:t>
            </a:r>
          </a:p>
          <a:p>
            <a:pPr>
              <a:spcAft>
                <a:spcPts val="600"/>
              </a:spcAft>
              <a:defRPr sz="1100">
                <a:solidFill>
                  <a:srgbClr val="1E293B"/>
                </a:solidFill>
              </a:defRPr>
            </a:pPr>
            <a:r>
              <a:t>• Botanical anomaly: visually atypical from common 6-petal trumpet lilies.</a:t>
            </a:r>
          </a:p>
          <a:p>
            <a:pPr>
              <a:spcAft>
                <a:spcPts val="600"/>
              </a:spcAft>
              <a:defRPr sz="1100">
                <a:solidFill>
                  <a:srgbClr val="1E293B"/>
                </a:solidFill>
              </a:defRPr>
            </a:pPr>
            <a:r>
              <a:t>• Visual Features: Deep maroon spathe (funnel bract) + tall black spadix spike.</a:t>
            </a:r>
          </a:p>
          <a:p>
            <a:pPr>
              <a:spcAft>
                <a:spcPts val="600"/>
              </a:spcAft>
              <a:defRPr sz="1100">
                <a:solidFill>
                  <a:srgbClr val="1E293B"/>
                </a:solidFill>
              </a:defRPr>
            </a:pPr>
            <a:r>
              <a:t>• Traditional models misclassify Dragon Lilies as 'Other Flowers' with high confidence.</a:t>
            </a:r>
          </a:p>
          <a:p>
            <a:pPr>
              <a:spcAft>
                <a:spcPts val="600"/>
              </a:spcAft>
              <a:defRPr sz="1100">
                <a:solidFill>
                  <a:srgbClr val="1E293B"/>
                </a:solidFill>
              </a:defRPr>
            </a:pPr>
            <a:r>
              <a:t>• Demonstrates the challenge of high intra-class variance in computer vision.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217920" y="1645920"/>
            <a:ext cx="5212080" cy="4389120"/>
          </a:xfrm>
          <a:prstGeom prst="roundRect">
            <a:avLst/>
          </a:prstGeom>
          <a:solidFill>
            <a:srgbClr val="F8FAFC"/>
          </a:solidFill>
          <a:ln w="19050">
            <a:solidFill>
              <a:srgbClr val="0596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0" y="1828800"/>
            <a:ext cx="4846320" cy="4023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800"/>
              </a:spcAft>
              <a:defRPr sz="1400" b="1">
                <a:solidFill>
                  <a:srgbClr val="059669"/>
                </a:solidFill>
              </a:defRPr>
            </a:pPr>
            <a:r>
              <a:t>💡 Solution &amp; Validation</a:t>
            </a:r>
          </a:p>
          <a:p>
            <a:pPr>
              <a:spcAft>
                <a:spcPts val="600"/>
              </a:spcAft>
              <a:defRPr sz="1100">
                <a:solidFill>
                  <a:srgbClr val="1E293B"/>
                </a:solidFill>
              </a:defRPr>
            </a:pPr>
            <a:r>
              <a:t>• Explicitly sourced Research-Grade observations of Dracunculus vulgaris.</a:t>
            </a:r>
          </a:p>
          <a:p>
            <a:pPr>
              <a:spcAft>
                <a:spcPts val="600"/>
              </a:spcAft>
              <a:defRPr sz="1100">
                <a:solidFill>
                  <a:srgbClr val="1E293B"/>
                </a:solidFill>
              </a:defRPr>
            </a:pPr>
            <a:r>
              <a:t>• Incorporated Dragon Lily images into the training distribution.</a:t>
            </a:r>
          </a:p>
          <a:p>
            <a:pPr>
              <a:spcAft>
                <a:spcPts val="600"/>
              </a:spcAft>
              <a:defRPr sz="1100">
                <a:solidFill>
                  <a:srgbClr val="1E293B"/>
                </a:solidFill>
              </a:defRPr>
            </a:pPr>
            <a:r>
              <a:t>• Result: MobileNetV2 correctly identifies Dragon Lily as Lily with &gt;90% confidence!</a:t>
            </a:r>
          </a:p>
          <a:p>
            <a:pPr>
              <a:spcAft>
                <a:spcPts val="600"/>
              </a:spcAft>
              <a:defRPr sz="1100">
                <a:solidFill>
                  <a:srgbClr val="1E293B"/>
                </a:solidFill>
              </a:defRPr>
            </a:pPr>
            <a:r>
              <a:t>• Key Takeaway: AI model reliability depends on capturing true real-world distribution tails.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 b="1">
                <a:solidFill>
                  <a:srgbClr val="059669"/>
                </a:solidFill>
              </a:defRPr>
            </a:pPr>
            <a:r>
              <a:t>SEMESTER PROJECT | DEEP LEARNING</a:t>
            </a:r>
          </a:p>
          <a:p>
            <a:pPr>
              <a:defRPr sz="2400" b="1">
                <a:solidFill>
                  <a:srgbClr val="1E293B"/>
                </a:solidFill>
              </a:defRPr>
            </a:pPr>
            <a:r>
              <a:t>Production Deployment on Vercel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645920"/>
            <a:ext cx="5120640" cy="4389120"/>
          </a:xfrm>
          <a:prstGeom prst="roundRect">
            <a:avLst/>
          </a:prstGeom>
          <a:solidFill>
            <a:srgbClr val="F8FAFC"/>
          </a:solidFill>
          <a:ln w="19050">
            <a:solidFill>
              <a:srgbClr val="0596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828800"/>
            <a:ext cx="4754880" cy="4023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800"/>
              </a:spcAft>
              <a:defRPr sz="1400" b="1">
                <a:solidFill>
                  <a:srgbClr val="059669"/>
                </a:solidFill>
              </a:defRPr>
            </a:pPr>
            <a:r>
              <a:t>⚡ PyTorch to ONNX Web Pipeline</a:t>
            </a:r>
          </a:p>
          <a:p>
            <a:pPr>
              <a:spcAft>
                <a:spcPts val="600"/>
              </a:spcAft>
              <a:defRPr sz="1100">
                <a:solidFill>
                  <a:srgbClr val="1E293B"/>
                </a:solidFill>
              </a:defRPr>
            </a:pPr>
            <a:r>
              <a:t>• Trained PyTorch weights exported to Open Neural Network Exchange (ONNX) format.</a:t>
            </a:r>
          </a:p>
          <a:p>
            <a:pPr>
              <a:spcAft>
                <a:spcPts val="600"/>
              </a:spcAft>
              <a:defRPr sz="1100">
                <a:solidFill>
                  <a:srgbClr val="1E293B"/>
                </a:solidFill>
              </a:defRPr>
            </a:pPr>
            <a:r>
              <a:t>• Custom CNN: 3.5 MB ONNX model (lightweight, mobile friendly).</a:t>
            </a:r>
          </a:p>
          <a:p>
            <a:pPr>
              <a:spcAft>
                <a:spcPts val="600"/>
              </a:spcAft>
              <a:defRPr sz="1100">
                <a:solidFill>
                  <a:srgbClr val="1E293B"/>
                </a:solidFill>
              </a:defRPr>
            </a:pPr>
            <a:r>
              <a:t>• MobileNetV2: 9.1 MB ONNX model (high accuracy).</a:t>
            </a:r>
          </a:p>
          <a:p>
            <a:pPr>
              <a:spcAft>
                <a:spcPts val="600"/>
              </a:spcAft>
              <a:defRPr sz="1100">
                <a:solidFill>
                  <a:srgbClr val="1E293B"/>
                </a:solidFill>
              </a:defRPr>
            </a:pPr>
            <a:r>
              <a:t>• Runs directly in the user's browser via ONNX Runtime Web (WASM execution provider).</a:t>
            </a:r>
          </a:p>
          <a:p>
            <a:pPr>
              <a:spcAft>
                <a:spcPts val="600"/>
              </a:spcAft>
              <a:defRPr sz="1100">
                <a:solidFill>
                  <a:srgbClr val="1E293B"/>
                </a:solidFill>
              </a:defRPr>
            </a:pPr>
            <a:r>
              <a:t>• Zero server cost, zero inference latency, 100% user privacy.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217920" y="1645920"/>
            <a:ext cx="5212080" cy="4389120"/>
          </a:xfrm>
          <a:prstGeom prst="roundRect">
            <a:avLst/>
          </a:prstGeom>
          <a:solidFill>
            <a:srgbClr val="F8FAFC"/>
          </a:solidFill>
          <a:ln w="19050">
            <a:solidFill>
              <a:srgbClr val="0596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0" y="1828800"/>
            <a:ext cx="4846320" cy="4023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800"/>
              </a:spcAft>
              <a:defRPr sz="1400" b="1">
                <a:solidFill>
                  <a:srgbClr val="059669"/>
                </a:solidFill>
              </a:defRPr>
            </a:pPr>
            <a:r>
              <a:t>🌐 Frontend &amp; Instructor Download Hub</a:t>
            </a:r>
          </a:p>
          <a:p>
            <a:pPr>
              <a:spcAft>
                <a:spcPts val="600"/>
              </a:spcAft>
              <a:defRPr sz="1100">
                <a:solidFill>
                  <a:srgbClr val="1E293B"/>
                </a:solidFill>
              </a:defRPr>
            </a:pPr>
            <a:r>
              <a:t>• Responsive modern UI with drag-and-drop image upload.</a:t>
            </a:r>
          </a:p>
          <a:p>
            <a:pPr>
              <a:spcAft>
                <a:spcPts val="600"/>
              </a:spcAft>
              <a:defRPr sz="1100">
                <a:solidFill>
                  <a:srgbClr val="1E293B"/>
                </a:solidFill>
              </a:defRPr>
            </a:pPr>
            <a:r>
              <a:t>• Side-by-side comparison cards for Custom CNN vs MobileNetV2.</a:t>
            </a:r>
          </a:p>
          <a:p>
            <a:pPr>
              <a:spcAft>
                <a:spcPts val="600"/>
              </a:spcAft>
              <a:defRPr sz="1100">
                <a:solidFill>
                  <a:srgbClr val="1E293B"/>
                </a:solidFill>
              </a:defRPr>
            </a:pPr>
            <a:r>
              <a:t>• Integrated Instructor Resource Center with one-click direct download buttons:</a:t>
            </a:r>
          </a:p>
          <a:p>
            <a:pPr>
              <a:spcAft>
                <a:spcPts val="600"/>
              </a:spcAft>
              <a:defRPr sz="1100">
                <a:solidFill>
                  <a:srgbClr val="1E293B"/>
                </a:solidFill>
              </a:defRPr>
            </a:pPr>
            <a:r>
              <a:t>•   • 📦 Download Dataset ZIP (35 MB)</a:t>
            </a:r>
          </a:p>
          <a:p>
            <a:pPr>
              <a:spcAft>
                <a:spcPts val="600"/>
              </a:spcAft>
              <a:defRPr sz="1100">
                <a:solidFill>
                  <a:srgbClr val="1E293B"/>
                </a:solidFill>
              </a:defRPr>
            </a:pPr>
            <a:r>
              <a:t>•   • 📄 Download Project Report (PDF &amp; DOCX)</a:t>
            </a:r>
          </a:p>
          <a:p>
            <a:pPr>
              <a:spcAft>
                <a:spcPts val="600"/>
              </a:spcAft>
              <a:defRPr sz="1100">
                <a:solidFill>
                  <a:srgbClr val="1E293B"/>
                </a:solidFill>
              </a:defRPr>
            </a:pPr>
            <a:r>
              <a:t>•   • 📊 Download Presentation Slides (PPTX)</a:t>
            </a:r>
          </a:p>
          <a:p>
            <a:pPr>
              <a:spcAft>
                <a:spcPts val="600"/>
              </a:spcAft>
              <a:defRPr sz="1100">
                <a:solidFill>
                  <a:srgbClr val="1E293B"/>
                </a:solidFill>
              </a:defRPr>
            </a:pPr>
            <a:r>
              <a:t>•   • 💼 View LinkedIn Post &amp; GitHub Repository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 b="1">
                <a:solidFill>
                  <a:srgbClr val="059669"/>
                </a:solidFill>
              </a:defRPr>
            </a:pPr>
            <a:r>
              <a:t>SEMESTER PROJECT | DEEP LEARNING</a:t>
            </a:r>
          </a:p>
          <a:p>
            <a:pPr>
              <a:defRPr sz="2400" b="1">
                <a:solidFill>
                  <a:srgbClr val="1E293B"/>
                </a:solidFill>
              </a:defRPr>
            </a:pPr>
            <a:r>
              <a:t>Summary &amp; Key Takeaways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645920"/>
            <a:ext cx="10698480" cy="4389120"/>
          </a:xfrm>
          <a:prstGeom prst="roundRect">
            <a:avLst/>
          </a:prstGeom>
          <a:solidFill>
            <a:srgbClr val="F8FAFC"/>
          </a:solidFill>
          <a:ln w="19050">
            <a:solidFill>
              <a:srgbClr val="0596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828800"/>
            <a:ext cx="10332720" cy="4023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800"/>
              </a:spcAft>
              <a:defRPr sz="1400" b="1">
                <a:solidFill>
                  <a:srgbClr val="059669"/>
                </a:solidFill>
              </a:defRPr>
            </a:pPr>
            <a:r>
              <a:t>🎓 Academic &amp; Practical Highlights</a:t>
            </a:r>
          </a:p>
          <a:p>
            <a:pPr>
              <a:spcAft>
                <a:spcPts val="600"/>
              </a:spcAft>
              <a:defRPr sz="1100">
                <a:solidFill>
                  <a:srgbClr val="1E293B"/>
                </a:solidFill>
              </a:defRPr>
            </a:pPr>
            <a:r>
              <a:t>• 1. Successfully developed an end-to-end Computer Vision system adhering strictly to all academic guidelines (No Kaggle).</a:t>
            </a:r>
          </a:p>
          <a:p>
            <a:pPr>
              <a:spcAft>
                <a:spcPts val="600"/>
              </a:spcAft>
              <a:defRPr sz="1100">
                <a:solidFill>
                  <a:srgbClr val="1E293B"/>
                </a:solidFill>
              </a:defRPr>
            </a:pPr>
            <a:r>
              <a:t>• 2. Proved that data quality directly dictates model success: eliminating scraper noise produced a +27% validation accuracy leap.</a:t>
            </a:r>
          </a:p>
          <a:p>
            <a:pPr>
              <a:spcAft>
                <a:spcPts val="600"/>
              </a:spcAft>
              <a:defRPr sz="1100">
                <a:solidFill>
                  <a:srgbClr val="1E293B"/>
                </a:solidFill>
              </a:defRPr>
            </a:pPr>
            <a:r>
              <a:t>• 3. Transfer Learning (MobileNetV2: 93.9%) dramatically outperformed Scratch CNN (87.5%), especially on subtle visual patterns.</a:t>
            </a:r>
          </a:p>
          <a:p>
            <a:pPr>
              <a:spcAft>
                <a:spcPts val="600"/>
              </a:spcAft>
              <a:defRPr sz="1100">
                <a:solidFill>
                  <a:srgbClr val="1E293B"/>
                </a:solidFill>
              </a:defRPr>
            </a:pPr>
            <a:r>
              <a:t>• 4. Overcame the closed-world limitation with an Open-Set Non-Flower Rejection mechanism (guaranteeing 0% on non-flower objects).</a:t>
            </a:r>
          </a:p>
          <a:p>
            <a:pPr>
              <a:spcAft>
                <a:spcPts val="600"/>
              </a:spcAft>
              <a:defRPr sz="1100">
                <a:solidFill>
                  <a:srgbClr val="1E293B"/>
                </a:solidFill>
              </a:defRPr>
            </a:pPr>
            <a:r>
              <a:t>• 5. Converted academic research into a live, production-grade web application deployed on Vercel with complete downloadable artifacts.</a:t>
            </a:r>
          </a:p>
          <a:p>
            <a:pPr>
              <a:spcAft>
                <a:spcPts val="600"/>
              </a:spcAft>
              <a:defRPr sz="1100">
                <a:solidFill>
                  <a:srgbClr val="1E293B"/>
                </a:solidFill>
              </a:defRPr>
            </a:pPr>
            <a:r>
              <a:t>• Supervised by Prof. Dr Munir Ahmad | Ahmad Ishtiaq (SU92-BSCSM-F23-318, BSCS-7A)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