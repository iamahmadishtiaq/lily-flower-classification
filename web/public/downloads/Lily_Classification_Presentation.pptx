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DEEP LEARNING SEMESTER PROJECT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🌸 Lily Flower Classification System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</a:defRPr>
            </a:pPr>
            <a:r>
              <a:t>Custom 4-Layer CNN vs. MobileNetV2 Transfer Learning with Open-Set Non-Flower Rejection</a:t>
            </a:r>
          </a:p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Student Name: Ahmad Ishtiaq    |    Roll No: SU92-BSCSM-F23-318    |    Section: BSCS-7A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Supervised By: Prof. Dr Munir Ahmad    |  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SEMESTER PROJECT | DEEP LEARNING</a:t>
            </a:r>
          </a:p>
          <a:p>
            <a:pPr>
              <a:defRPr sz="2400" b="1">
                <a:solidFill>
                  <a:srgbClr val="1E293B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🎯 Core Goals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Distinguish Lily flowers from other flowers with high precision.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Implement two distinct DL paradigms: Scratch CNN vs Pretrained Transfer Learning.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Strict compliance: 100% self-collected botanical dataset (No Kaggle).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Open-set deployment: Handle non-flower uploads safely with 0% false positives.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🔬 Research Questions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How does a 4-layer custom CNN perform against pre-trained ImageNet representations?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Can a model recognize rare botanical outliers like Dragon Lily (Dracunculus vulgaris)?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What is the impact of rigorous data quality filtering on validation accuracy?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Can client-side ONNX Runtime Web run zero-latency browser inference?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📦 Key Deliverables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Clean 3-class dataset: 1,560 verified botanical &amp; object photos.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Trained PyTorch weights &amp; ONNX web-optimized models.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Live production web application deployed on Vercel.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Complete academic project report (PDF/Word) &amp; Google Colab interactive notebook.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SEMESTER PROJECT | DEEP LEARNING</a:t>
            </a:r>
          </a:p>
          <a:p>
            <a:pPr>
              <a:defRPr sz="2400" b="1">
                <a:solidFill>
                  <a:srgbClr val="1E293B"/>
                </a:solidFill>
              </a:defRPr>
            </a:pPr>
            <a:r>
              <a:t>Self-Collected Dataset (1,560 Verified Images)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🌺 Lily Category (520 Images)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True Lilies (Lilium Genus): Asiatic, Madonna, Tiger, Stargazer, Easter, Turk's Cap.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Botanical Outliers: Dragon Lily (Dracunculus vulgaris).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Source: iNaturalist Open Data (AWS S3) - 100% Research-Grade Botanist Verified.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Zero junk images: verified flower blooms.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🌻 Other Flowers (520 Images)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Curated botanical flower species: Roses, Tulips, Sunflowers, Daisies, Dandelions.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Source: Official Google TensorFlow Flowers repository.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Balanced intra-class diversity across 5 major non-lily flower categories.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High visual variety in background, lighting, and camera angles.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🚫 Non-Flower Class (520 Images)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Trained open-set rejection class to satisfy instructor requirement.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Covers diverse everyday categories: Mammals (cats, dogs), Birds, Insects, Reptiles.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Allows the system to output 0% Lily and 0% Other Flowers when a non-flower is tested.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Prevents misleading false-positive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SEMESTER PROJECT | DEEP LEARNING</a:t>
            </a:r>
          </a:p>
          <a:p>
            <a:pPr>
              <a:defRPr sz="2400" b="1">
                <a:solidFill>
                  <a:srgbClr val="1E293B"/>
                </a:solidFill>
              </a:defRPr>
            </a:pPr>
            <a:r>
              <a:t>The Data Quality Discovery: Quality &gt; Quantity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⚠️ The Scraper Contamination Problem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Automated web scraping from encyclopedic sources downloaded irrelevant media: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Anatomical diagrams, distribution maps, pressed herbarium specimens.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Objects detected in raw scrape: bow ties, military uniforms, pomegranates, monkeys, cabbage.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~32% contamination severely degraded early training accuracy (capped at 66.5%).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Lesson: Web-scraped datasets require rigorous semantic verification before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🚀 The Two-Pass AI Cleaning Pipeline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Rebuilt the dataset using research-grade observation APIs and curated botanical repositories.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MobileNetV2 accuracy soared from 66.5% to 83.6%, and finally to 93.9% on pure data!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Custom CNN accuracy jumped from 61.0% to 87.5% on pure data.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Demonstrated empirical proof: Clean, verified data yields +17% to +27% accuracy improvement!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SEMESTER PROJECT | DEEP LEARNING</a:t>
            </a:r>
          </a:p>
          <a:p>
            <a:pPr>
              <a:defRPr sz="2400" b="1">
                <a:solidFill>
                  <a:srgbClr val="1E293B"/>
                </a:solidFill>
              </a:defRPr>
            </a:pPr>
            <a:r>
              <a:t>Deep Learning Architectures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🧠 Model 1: Custom CNN (From Scratch)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4-Stage Convolutional Feature Extractor: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Conv2D(3→32, 3x3) + BatchNorm + ReLU + MaxPool(2x2)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Conv2D(32→64, 3x3) + BatchNorm + ReLU + MaxPool(2x2)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Conv2D(64→128, 3x3) + BatchNorm + ReLU + MaxPool(2x2)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Conv2D(128→256, 3x3) + BatchNorm + ReLU + AdaptiveAvgPool(4x4)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Classification Head: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Dropout(0.4) → Linear(4096→128) → ReLU → Dropout(0.3) → Linear(128→3)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Total Parameters: ~2.5 Million (all trained from random initialization).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🚀 Model 2: MobileNetV2 (Transfer Learning)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Backbone: MobileNetV2 pre-trained on ImageNet-1K (1.28M images).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Inverted Residual Blocks with Depthwise Separable Convolutions.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Frozen Feature Extractor: Preserves rich universal visual primitives (edges, textures, shapes).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Custom Fine-Tuning Head: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Dropout(0.2) → Linear(1280→128) → ReLU → Dropout(0.2) → Linear(128→3)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Trainable Parameters: ~165,000 (Fast training, robust generalization).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SEMESTER PROJECT | DEEP LEARNING</a:t>
            </a:r>
          </a:p>
          <a:p>
            <a:pPr>
              <a:defRPr sz="2400" b="1">
                <a:solidFill>
                  <a:srgbClr val="1E293B"/>
                </a:solidFill>
              </a:defRPr>
            </a:pPr>
            <a:r>
              <a:t>Open-Set Non-Flower Rejection (0% Guarantee)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❓ The Closed-World Softmax Flaw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Standard 2-class classifiers ALWAYS force predictions to sum to 100%.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If a picture of a car, human, or laptop is uploaded: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 2-class model falsely claims 'Other Flowers: 75%' or 'Lily: 60%'.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This violates real-world reliability and instructor requirements.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Goal: Ensure Lily: 0% and Other Flowers: 0% for any non-flower object.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✅ Our 3-Class Open-Set Solution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Model natively predicts [Lily, Non-Flower, Other Flowers].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If Non-Flower confidence &gt; threshold (or highest rank):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Prediction: 'Not a Flower 🚫'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Lily Percentage: 0.0%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Other Flowers Percentage: 0.0%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If a Flower is detected: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Normalizes probabilities between Lily and Other Flowers (sum = 100%).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Fully integrated into Python predictor and Vercel web application!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SEMESTER PROJECT | DEEP LEARNING</a:t>
            </a:r>
          </a:p>
          <a:p>
            <a:pPr>
              <a:defRPr sz="2400" b="1">
                <a:solidFill>
                  <a:srgbClr val="1E293B"/>
                </a:solidFill>
              </a:defRPr>
            </a:pPr>
            <a:r>
              <a:t>Experimental Results &amp;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📊 Performance Metrics (Test / Validation Split)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Metric | Custom CNN | MobileNetV2 Transfer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--------------------------------------------------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Best Validation Accuracy: 87.50% | 93.91% 🏆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Lily Precision:           91.00% | 87.00%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Lily Recall:              83.00% | 99.00% (Near Perfect)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Non-Flower Precision:     85.00% | 98.00%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Non-Flower Recall:        91.00% | 91.00%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Other Flowers Precision:  86.00% | 100.00% (Flawless)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Training Time:            3m 27s | 2m 03s (Apple MPS)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🔍 Key Observations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MobileNetV2 achieved 99% Lily Recall — almost zero missed lilies!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Other Flowers precision reached 100% on MobileNetV2.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Non-flower detection precision reached 98% on MobileNetV2.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Custom CNN demonstrated remarkable learning capacity (87.5% from scratch).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Transfer learning proved superior in feature representation and training speed.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SEMESTER PROJECT | DEEP LEARNING</a:t>
            </a:r>
          </a:p>
          <a:p>
            <a:pPr>
              <a:defRPr sz="2400" b="1">
                <a:solidFill>
                  <a:srgbClr val="1E293B"/>
                </a:solidFill>
              </a:defRPr>
            </a:pPr>
            <a:r>
              <a:t>Botanical Outlier Study: Dragon Lily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🌿 Dracunculus vulgaris (Dragon Lily)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Botanical anomaly: visually atypical from common 6-petal trumpet lilies.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Visual Features: Deep maroon spathe (funnel bract) + tall black spadix spike.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Traditional models misclassify Dragon Lilies as 'Other Flowers' with high confidence.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Demonstrates the challenge of high intra-class variance in computer vision.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💡 Solution &amp; Validation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Explicitly sourced Research-Grade observations of Dracunculus vulgaris.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Incorporated Dragon Lily images into the training distribution.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Result: MobileNetV2 correctly identifies Dragon Lily as Lily with &gt;90% confidence!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Key Takeaway: AI model reliability depends on capturing true real-world distribution 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SEMESTER PROJECT | DEEP LEARNING</a:t>
            </a:r>
          </a:p>
          <a:p>
            <a:pPr>
              <a:defRPr sz="2400" b="1">
                <a:solidFill>
                  <a:srgbClr val="1E293B"/>
                </a:solidFill>
              </a:defRPr>
            </a:pPr>
            <a:r>
              <a:t>Production Deployment on Vercel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⚡ PyTorch to ONNX Web Pipeline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Trained PyTorch weights exported to Open Neural Network Exchange (ONNX) format.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Custom CNN: 3.5 MB ONNX model (lightweight, mobile friendly).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MobileNetV2: 9.1 MB ONNX model (high accuracy).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Runs directly in the user's browser via ONNX Runtime Web (WASM execution provider).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Zero server cost, zero inference latency, 100% user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🌐 Frontend &amp; Instructor Download Hub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Responsive modern UI with drag-and-drop image upload.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Side-by-side comparison cards for Custom CNN vs MobileNetV2.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Integrated Instructor Resource Center with one-click direct download buttons: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📦 Download Dataset ZIP (35 MB)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📄 Download Project Report (PDF &amp; DOCX)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📊 Download Presentation Slides (PPTX)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 • 💼 View LinkedIn Post (https://lnkd.in/p/d3C-vc7q) &amp; GitHub Repository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SEMESTER PROJECT | DEEP LEARNING</a:t>
            </a:r>
          </a:p>
          <a:p>
            <a:pPr>
              <a:defRPr sz="2400" b="1">
                <a:solidFill>
                  <a:srgbClr val="1E293B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</a:defRPr>
            </a:pPr>
            <a:r>
              <a:t>🎓 Academic &amp; Practical Highlights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1. Successfully developed an end-to-end Computer Vision system adhering strictly to all academic guidelines (No Kaggle).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2. Proved that data quality directly dictates model success: eliminating scraper noise produced a +27% validation accuracy leap.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3. Transfer Learning (MobileNetV2: 93.9%) dramatically outperformed Scratch CNN (87.5%), especially on subtle visual patterns.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4. Overcame the closed-world limitation with an Open-Set Non-Flower Rejection mechanism (guaranteeing 0% on non-flower objects).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5. Converted academic research into a live, production-grade web application deployed on Vercel with complete downloadable artifacts.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Supervised by Prof. Dr Munir Ahmad | Ahmad Ishtiaq (SU92-BSCSM-F23-318, BSCS-7A)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